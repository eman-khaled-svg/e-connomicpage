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057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640080"/>
            <a:ext cx="3840480" cy="3840480"/>
          </a:xfrm>
          <a:prstGeom prst="ellipse">
            <a:avLst/>
          </a:prstGeom>
          <a:solidFill>
            <a:srgbClr val="5B0EA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017520"/>
            <a:ext cx="2926080" cy="292608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9601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TechStore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متجر الأجهزة الإلكترونية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292608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542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توثيق وعرض المشروع الأكاديمي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1828800" cy="292608"/>
          </a:xfrm>
          <a:prstGeom prst="rect">
            <a:avLst/>
          </a:prstGeom>
          <a:solidFill>
            <a:srgbClr val="2D006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HTML5 / CSS3 / JS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42032" y="3017520"/>
            <a:ext cx="1828800" cy="292608"/>
          </a:xfrm>
          <a:prstGeom prst="rect">
            <a:avLst/>
          </a:prstGeom>
          <a:solidFill>
            <a:srgbClr val="2D006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42032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6 صفحات تفاعلية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35424" y="3017520"/>
            <a:ext cx="1828800" cy="292608"/>
          </a:xfrm>
          <a:prstGeom prst="rect">
            <a:avLst/>
          </a:prstGeom>
          <a:solidFill>
            <a:srgbClr val="2D006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35424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18 منتج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5B0EA6"/>
          </a:solidFill>
          <a:ln w="12700">
            <a:solidFill>
              <a:srgbClr val="5B0EA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</a:rPr>
              <a:t>2025  •  تسليم أكاديمي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20029"/>
          </a:solidFill>
          <a:ln w="12700">
            <a:solidFill>
              <a:srgbClr val="1200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0"/>
            <a:ext cx="36576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411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TechStore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6576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محتوى العرض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7472" y="149961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3232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" y="204825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3232" y="1993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الصفحات والميزات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" y="259689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التقنيات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47472" y="314553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3232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البيانات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7472" y="369417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347472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13232" y="36393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الوظائف الأساسية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47472" y="424281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347472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3232" y="41879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108960" y="2560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محتوى العرض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3108960" y="87782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دليل سريع لأقسام الـ Presentation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108960" y="1353312"/>
            <a:ext cx="263347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08960" y="1389888"/>
            <a:ext cx="2633472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236976" y="1792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897880" y="1353312"/>
            <a:ext cx="263347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97880" y="1389888"/>
            <a:ext cx="2633472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025896" y="17922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الصفحات والميزات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108960" y="2560320"/>
            <a:ext cx="2633472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08960" y="2596896"/>
            <a:ext cx="2633472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3236976" y="2999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التقنيات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897880" y="2560320"/>
            <a:ext cx="2633472" cy="10515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97880" y="2596896"/>
            <a:ext cx="2633472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6025896" y="29992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البيانات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108960" y="3767328"/>
            <a:ext cx="2633472" cy="105156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108960" y="3803904"/>
            <a:ext cx="2633472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3236976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الوظائف الأساسية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897880" y="3767328"/>
            <a:ext cx="2633472" cy="1051560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97880" y="3803904"/>
            <a:ext cx="2633472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6025896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01 — نظرة عامة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ما هو TechStore؟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60520" cy="2651760"/>
          </a:xfrm>
          <a:prstGeom prst="rect">
            <a:avLst/>
          </a:prstGeom>
          <a:solidFill>
            <a:srgbClr val="140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160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وصف المشروع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TechStore متجر إلكتروني متكامل لبيع الأجهزة الإلكترونية، مبني بـ HTML5 و CSS3 و JavaScript.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يُقدم تجربة تسوق كاملة من تصفح المنتجات حتى إتمام الشراء، مع دعم كامل للغة العربية واتجاه RTL.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64608" y="1371600"/>
            <a:ext cx="3822192" cy="566928"/>
          </a:xfrm>
          <a:prstGeom prst="rect">
            <a:avLst/>
          </a:prstGeom>
          <a:solidFill>
            <a:srgbClr val="1A0040"/>
          </a:solidFill>
          <a:ln w="12700">
            <a:solidFill>
              <a:srgbClr val="3B0764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49047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13248" y="14813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تسوق عربية سلسة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64608" y="2039112"/>
            <a:ext cx="3822192" cy="566928"/>
          </a:xfrm>
          <a:prstGeom prst="rect">
            <a:avLst/>
          </a:prstGeom>
          <a:solidFill>
            <a:srgbClr val="1A0040"/>
          </a:solidFill>
          <a:ln w="12700">
            <a:solidFill>
              <a:srgbClr val="3B076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1579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3248" y="21488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فلترة وبحث متقدم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64608" y="2706624"/>
            <a:ext cx="3822192" cy="566928"/>
          </a:xfrm>
          <a:prstGeom prst="rect">
            <a:avLst/>
          </a:prstGeom>
          <a:solidFill>
            <a:srgbClr val="1A0040"/>
          </a:solidFill>
          <a:ln w="12700">
            <a:solidFill>
              <a:srgbClr val="3B076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624" y="28254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13248" y="281635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سلة تسوق بدون Backend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4224528"/>
            <a:ext cx="1938528" cy="914400"/>
          </a:xfrm>
          <a:prstGeom prst="rect">
            <a:avLst/>
          </a:prstGeom>
          <a:solidFill>
            <a:srgbClr val="180036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427939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62686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D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457200" y="491947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صفحات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3465576" y="4224528"/>
            <a:ext cx="1938528" cy="914400"/>
          </a:xfrm>
          <a:prstGeom prst="rect">
            <a:avLst/>
          </a:prstGeom>
          <a:solidFill>
            <a:srgbClr val="180036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248" y="4279392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65576" y="462686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D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200" dirty="0"/>
          </a:p>
        </p:txBody>
      </p:sp>
      <p:sp>
        <p:nvSpPr>
          <p:cNvPr id="28" name="Text 20"/>
          <p:cNvSpPr/>
          <p:nvPr/>
        </p:nvSpPr>
        <p:spPr>
          <a:xfrm>
            <a:off x="3465576" y="491947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منتج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6356512" y="4224528"/>
            <a:ext cx="1938528" cy="914400"/>
          </a:xfrm>
          <a:prstGeom prst="rect">
            <a:avLst/>
          </a:prstGeom>
          <a:solidFill>
            <a:srgbClr val="180036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1184" y="4279392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56512" y="4626864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D0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2200" dirty="0"/>
          </a:p>
        </p:txBody>
      </p:sp>
      <p:sp>
        <p:nvSpPr>
          <p:cNvPr id="32" name="Text 23"/>
          <p:cNvSpPr/>
          <p:nvPr/>
        </p:nvSpPr>
        <p:spPr>
          <a:xfrm>
            <a:off x="6356512" y="491947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سطر JS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B0EA6"/>
          </a:solidFill>
          <a:ln w="12700">
            <a:solidFill>
              <a:srgbClr val="5B0EA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972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صفحات الموقع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 — PAGES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92608" y="932688"/>
            <a:ext cx="272491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2608" y="932688"/>
            <a:ext cx="2724912" cy="347472"/>
          </a:xfrm>
          <a:prstGeom prst="rect">
            <a:avLst/>
          </a:prstGeom>
          <a:solidFill>
            <a:srgbClr val="5B0EA6"/>
          </a:solidFill>
          <a:ln w="12700">
            <a:solidFill>
              <a:srgbClr val="5B0EA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784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969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20624" y="1353312"/>
            <a:ext cx="24688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الرئيسية — Hero Section, فئات, مميزات, إحصائيات, brands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163824" y="932688"/>
            <a:ext cx="272491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163824" y="932688"/>
            <a:ext cx="2724912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97840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84448" y="969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products.html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291840" y="1353312"/>
            <a:ext cx="24688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المنتجات — sidebar filter, بحث, sort, pagination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035040" y="932688"/>
            <a:ext cx="272491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035040" y="932688"/>
            <a:ext cx="272491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97840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55664" y="969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product-details.html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163056" y="1353312"/>
            <a:ext cx="24688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التفاصيل — gallery, ألوان, storage, tabs, منتجات مشابهة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92608" y="2944368"/>
            <a:ext cx="272491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92608" y="2944368"/>
            <a:ext cx="2724912" cy="34747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990088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" y="298094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cart.html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20624" y="3364992"/>
            <a:ext cx="24688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السلة — كميات, promo codes, ضريبة 14%, checkout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3163824" y="2944368"/>
            <a:ext cx="272491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3163824" y="2944368"/>
            <a:ext cx="2724912" cy="347472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5264" y="2990088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584448" y="298094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about.html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3291840" y="3364992"/>
            <a:ext cx="24688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نحن — timeline, counter animation, فريق العمل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035040" y="2944368"/>
            <a:ext cx="272491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035040" y="2944368"/>
            <a:ext cx="2724912" cy="347472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2990088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455664" y="298094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contact.html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6163056" y="3364992"/>
            <a:ext cx="24688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اتصل بنا — form + validation, FAQ accordion, خريطة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 — صفحة المنتجات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products.html — تفاصيل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70048" cy="1691640"/>
          </a:xfrm>
          <a:prstGeom prst="rect">
            <a:avLst/>
          </a:prstGeom>
          <a:solidFill>
            <a:srgbClr val="1E0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670048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41732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Sidebar Filters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" y="1746504"/>
            <a:ext cx="2414016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الفئة، السعر (range slider)، التقييم، العلامة التجارية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325880"/>
            <a:ext cx="2670048" cy="1691640"/>
          </a:xfrm>
          <a:prstGeom prst="rect">
            <a:avLst/>
          </a:prstGeom>
          <a:solidFill>
            <a:srgbClr val="1E0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1325880"/>
            <a:ext cx="26700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41732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Tabs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0984" y="1746504"/>
            <a:ext cx="2414016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تبويبات سريعة: الكل / موبايلات / لابتوبات / ساعات / سماعات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25896" y="1325880"/>
            <a:ext cx="2670048" cy="1691640"/>
          </a:xfrm>
          <a:prstGeom prst="rect">
            <a:avLst/>
          </a:prstGeom>
          <a:solidFill>
            <a:srgbClr val="1E0040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1325880"/>
            <a:ext cx="2670048" cy="365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141732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 Grid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53912" y="1746504"/>
            <a:ext cx="2414016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منتج كـ cards مع صورة حقيقية + badge (new/hot/sale)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2670048" cy="1691640"/>
          </a:xfrm>
          <a:prstGeom prst="rect">
            <a:avLst/>
          </a:prstGeom>
          <a:solidFill>
            <a:srgbClr val="1E004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54680"/>
            <a:ext cx="2670048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24612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Sort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" y="3575304"/>
            <a:ext cx="2414016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بحث نصي فوري + ترتيب بالسعر والتقييم في نفس الوقت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3154680"/>
            <a:ext cx="2670048" cy="1691640"/>
          </a:xfrm>
          <a:prstGeom prst="rect">
            <a:avLst/>
          </a:prstGeom>
          <a:solidFill>
            <a:srgbClr val="1E0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68" y="3154680"/>
            <a:ext cx="26700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324612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Pagination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00984" y="3575304"/>
            <a:ext cx="2414016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منتجات/صفحة مع أزرار تنقل + عداد النتائج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25896" y="3154680"/>
            <a:ext cx="2670048" cy="1691640"/>
          </a:xfrm>
          <a:prstGeom prst="rect">
            <a:avLst/>
          </a:prstGeom>
          <a:solidFill>
            <a:srgbClr val="1E0040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5896" y="3154680"/>
            <a:ext cx="2670048" cy="365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324612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Toggle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3575304"/>
            <a:ext cx="2414016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تبديل بين Grid و List بضغطة زر واحدة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02 — سلة التسوق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cart.html — دورة الشراء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1920240" cy="1463040"/>
          </a:xfrm>
          <a:prstGeom prst="rect">
            <a:avLst/>
          </a:prstGeom>
          <a:solidFill>
            <a:srgbClr val="1E0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1508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14" y="1613002"/>
            <a:ext cx="340157" cy="3401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" y="21214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تصفح المنتجات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0624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products.html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67712" y="1975104"/>
            <a:ext cx="475488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0" y="1847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395728" y="1298448"/>
            <a:ext cx="1920240" cy="1463040"/>
          </a:xfrm>
          <a:prstGeom prst="rect">
            <a:avLst/>
          </a:prstGeom>
          <a:solidFill>
            <a:srgbClr val="1E0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95728" y="1298448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81528" y="1508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770" y="1613002"/>
            <a:ext cx="340157" cy="34015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68880" y="21214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إضافة للسلة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468880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315968" y="1975104"/>
            <a:ext cx="475488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34256" y="1847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443984" y="1298448"/>
            <a:ext cx="1920240" cy="1463040"/>
          </a:xfrm>
          <a:prstGeom prst="rect">
            <a:avLst/>
          </a:prstGeom>
          <a:solidFill>
            <a:srgbClr val="1E0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43984" y="1298448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129784" y="1508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026" y="1613002"/>
            <a:ext cx="340157" cy="34015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17136" y="21214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كود الخصم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517136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TECH20 / SAVE10 / FIRST15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364224" y="1975104"/>
            <a:ext cx="475488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82512" y="184708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55F7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92240" y="1298448"/>
            <a:ext cx="1920240" cy="1463040"/>
          </a:xfrm>
          <a:prstGeom prst="rect">
            <a:avLst/>
          </a:prstGeom>
          <a:solidFill>
            <a:srgbClr val="1E0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92240" y="1298448"/>
            <a:ext cx="19202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178040" y="1508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2282" y="1613002"/>
            <a:ext cx="340157" cy="34015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565392" y="21214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الإجمالي النهائي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565392" y="24231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سعر + 14% ضريبة - خصم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347472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أكواد الخصم: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310128"/>
          <a:ext cx="3657600" cy="1508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الكود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الخصم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B5FD"/>
                          </a:solidFill>
                        </a:rPr>
                        <a:t>TECH20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EFAC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B5FD"/>
                          </a:solidFill>
                        </a:rPr>
                        <a:t>SAVE10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EFAC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0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4B5FD"/>
                          </a:solidFill>
                        </a:rPr>
                        <a:t>FIRST15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EFAC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07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hape 30"/>
          <p:cNvSpPr/>
          <p:nvPr/>
        </p:nvSpPr>
        <p:spPr>
          <a:xfrm>
            <a:off x="4343400" y="2944368"/>
            <a:ext cx="4434840" cy="1901952"/>
          </a:xfrm>
          <a:prstGeom prst="rect">
            <a:avLst/>
          </a:prstGeom>
          <a:solidFill>
            <a:srgbClr val="10002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480560" y="3035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معادلة حساب الإجمالي: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480560" y="3383280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  = Σ (price × qty)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4480560" y="3721608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 = subtotal × (promo / 100)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4480560" y="4059936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       = (subtotal − discount) × 0.14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4480560" y="4398264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D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= subtotal − discount + tax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التقنيات المستخدمة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04088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03 — TECH STACK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2578608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60704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11556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97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1792" y="1664208"/>
            <a:ext cx="22494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هيكل الصفحات، Semantic elements، RTL support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932688"/>
            <a:ext cx="2578608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10712" y="1060704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115568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097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410712" y="1664208"/>
            <a:ext cx="22494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Grid، Flexbox، Animations، @keyframes، Variables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932688"/>
            <a:ext cx="2578608" cy="1828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99632" y="106070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115568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0972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199632" y="1664208"/>
            <a:ext cx="2249424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DOM، ES6+، localStorage، URLSearchParams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944368"/>
            <a:ext cx="413308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2944368"/>
            <a:ext cx="64008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3504" y="3118104"/>
            <a:ext cx="512064" cy="51206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54680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25296" y="30358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localStorage API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225296" y="3401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حفظ سلة التسوق بين الجلسات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828032" y="2944368"/>
            <a:ext cx="413308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828032" y="2944368"/>
            <a:ext cx="64008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974336" y="3118104"/>
            <a:ext cx="512064" cy="51206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154680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96128" y="30358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URLSearchParams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596128" y="3401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تمرير ID المنتج بين الصفحات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57200" y="3968496"/>
            <a:ext cx="413308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7200" y="3968496"/>
            <a:ext cx="64008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3504" y="4142232"/>
            <a:ext cx="512064" cy="51206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178808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225296" y="405993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Intersection Observer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1225296" y="44256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animation عند الـ scroll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828032" y="3968496"/>
            <a:ext cx="413308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828032" y="3968496"/>
            <a:ext cx="64008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974336" y="4142232"/>
            <a:ext cx="512064" cy="512064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912" y="4178808"/>
            <a:ext cx="438912" cy="43891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596128" y="405993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0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 Awesome 6.5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5596128" y="442569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مكتبة أيقونات عبر CDN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04 — نموذج البيانات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كيف تُخزَّن البيانات؟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60520" cy="3657600"/>
          </a:xfrm>
          <a:prstGeom prst="rect">
            <a:avLst/>
          </a:prstGeom>
          <a:solidFill>
            <a:srgbClr val="0D00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1605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كائن المنتج — Product Object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D9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      1,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'iPhone 15 Pro Max',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'موبايلات',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brand:    'Apple',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   35999,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16382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oldPrice: 39999,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rating:   5,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img: '../img/iPhone.jpg',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8770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badge: 'new',  discount: '10%'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D9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4114800" cy="1554480"/>
          </a:xfrm>
          <a:prstGeom prst="rect">
            <a:avLst/>
          </a:prstGeom>
          <a:solidFill>
            <a:srgbClr val="0D0020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280160"/>
            <a:ext cx="4114800" cy="3657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71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كائن السلة — Cart Item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id: 1,  name: 'iPhone 15 Pro Max',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price: 35999,  img: '../img/...',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249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qty: 2  // الكمية المطلوبة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114800" cy="1993392"/>
          </a:xfrm>
          <a:prstGeom prst="rect">
            <a:avLst/>
          </a:prstGeom>
          <a:solidFill>
            <a:srgbClr val="0D00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944368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358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localStorage — التخزين المحلي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401568"/>
            <a:ext cx="38404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المفتاح: 'cartItems'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يُخزَّن كـ JSON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جميع الصفحات تشاركه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يبقى بعد إغلاق المتصفح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05 — الوظائف الأساسية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أهم دوال JavaScript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325880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426464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5389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3898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filterProducts()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3776" y="1819656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تفلتر 18 منتج بالفئة والسعر والتقييم والبراند والبحث دفعة واحدة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298448"/>
            <a:ext cx="4114800" cy="1325880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298448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1426464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45389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3898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addToCart(product)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91456" y="1819656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تُضيف للسلة أو تزيد الكمية — تُحدّث localStorage فوراً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788920"/>
            <a:ext cx="4114800" cy="1325880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788920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93776" y="291693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94436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4128" y="28803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renderProducts([])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93776" y="3310128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تولّد HTML الـ cards ديناميكياً من مصفوفة البيانات بدون reload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2788920"/>
            <a:ext cx="4114800" cy="1325880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3440" y="2788920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91456" y="291693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94436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21808" y="28803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showToast(msg)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791456" y="3310128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 منبثق لمدة 2.5 ثانية مع CSS transition سلسة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4279392"/>
            <a:ext cx="4114800" cy="1325880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65760" y="4279392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93776" y="4407408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44348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24128" y="4370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selectThumb(btn,i)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93776" y="480060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تُغيّر صورة المنتج الرئيسية عند الضغط على thumbnail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663440" y="4279392"/>
            <a:ext cx="4114800" cy="1325880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663440" y="4279392"/>
            <a:ext cx="4114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791456" y="4407408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443484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21808" y="4370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toggleFaq(el)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791456" y="4800600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يفتح/يغلق FAQ accordion مع max-height animation بدون مكتبات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05 — نظام الألوان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System &amp; UI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640080" cy="1298448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325880"/>
            <a:ext cx="2057400" cy="1298448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#6600CC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Purple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20025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Header، Borders، Buttons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27832" y="1325880"/>
            <a:ext cx="640080" cy="1298448"/>
          </a:xfrm>
          <a:prstGeom prst="rect">
            <a:avLst/>
          </a:prstGeom>
          <a:solidFill>
            <a:srgbClr val="9933FF"/>
          </a:solidFill>
          <a:ln w="12700">
            <a:solidFill>
              <a:srgbClr val="993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1325880"/>
            <a:ext cx="2057400" cy="1298448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#9933FF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7640" y="20025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Hover، Active، Accent text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8192" y="1325880"/>
            <a:ext cx="640080" cy="1298448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1325880"/>
            <a:ext cx="2057400" cy="1298448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#FF00FF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1728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Magenta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00253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الأسعار، Cart badge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2862072"/>
            <a:ext cx="640080" cy="1298448"/>
          </a:xfrm>
          <a:prstGeom prst="rect">
            <a:avLst/>
          </a:prstGeom>
          <a:solidFill>
            <a:srgbClr val="0A0010"/>
          </a:solidFill>
          <a:ln w="12700">
            <a:solidFill>
              <a:srgbClr val="0A00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2862072"/>
            <a:ext cx="2057400" cy="1298448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#0A0010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3538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خلفية الصفحات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27832" y="2862072"/>
            <a:ext cx="640080" cy="1298448"/>
          </a:xfrm>
          <a:prstGeom prst="rect">
            <a:avLst/>
          </a:prstGeom>
          <a:solidFill>
            <a:srgbClr val="00CC88"/>
          </a:solidFill>
          <a:ln w="12700">
            <a:solidFill>
              <a:srgbClr val="00CC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7912" y="2862072"/>
            <a:ext cx="2057400" cy="1298448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#00CC88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Green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77640" y="3538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توافر المنتج، الخصومات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08192" y="2862072"/>
            <a:ext cx="640080" cy="1298448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48272" y="2862072"/>
            <a:ext cx="2057400" cy="1298448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#FF4466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Red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3538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الحذف، رسائل الخطأ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4407408"/>
            <a:ext cx="8449056" cy="621792"/>
          </a:xfrm>
          <a:prstGeom prst="rect">
            <a:avLst/>
          </a:prstGeom>
          <a:solidFill>
            <a:srgbClr val="140030"/>
          </a:solidFill>
          <a:ln w="12700">
            <a:solidFill>
              <a:srgbClr val="3B0764"/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98848"/>
            <a:ext cx="365760" cy="3657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05840" y="446227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الخط: Segoe UI  |  اتجاه: RTL (dir=rtl)  |  Sticky Header  |  CSS Keyframes  |  Smooth Scroll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B0EA6"/>
          </a:solidFill>
          <a:ln w="12700">
            <a:solidFill>
              <a:srgbClr val="5B0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كتالوج المنتجات — 18 منتج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223760" y="2743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223760" y="274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06 — CATALOG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404164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الفئة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0E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العدد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0E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أبرز العلامات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0E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نطاق السعر (ج.م)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0E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0033"/>
                          </a:solidFill>
                        </a:rPr>
                        <a:t>📱 موبايلات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Apple / Samsung / Xiaomi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3,999 – 35,999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0033"/>
                          </a:solidFill>
                        </a:rPr>
                        <a:t>💻 لابتوبات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Apple / Dell / HP / Lenovo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26,999 – 49,999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0033"/>
                          </a:solidFill>
                        </a:rPr>
                        <a:t>⌚ ساعات ذكية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Apple / Samsung / Xiaomi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3,999 – 15,999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0033"/>
                          </a:solidFill>
                        </a:rPr>
                        <a:t>🎧 سماعات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Sony / Apple / Samsung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4,999 – 9,999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0033"/>
                          </a:solidFill>
                        </a:rPr>
                        <a:t>📷 كاميرات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Sony / GoPro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7,999 – 42,999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3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0033"/>
                          </a:solidFill>
                        </a:rPr>
                        <a:t>🎮 ألعاب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Sony / Microsoft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B7280"/>
                          </a:solidFill>
                        </a:rPr>
                        <a:t>17,999 – 19,999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548640"/>
            <a:ext cx="4389120" cy="4389120"/>
          </a:xfrm>
          <a:prstGeom prst="ellipse">
            <a:avLst/>
          </a:prstGeom>
          <a:solidFill>
            <a:srgbClr val="5B0EA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474720" cy="347472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92608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الخلاصة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ما تم تحقيقه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48132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3898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صفحات HTML متكاملة ومترابطة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444752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48132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3898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منتجاً بصور ومواصفات حقيقية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10312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13969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20482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فلترة وبحث بدون مكتبات خارجية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46320" y="210312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13969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30368" y="20482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سلة تسوق Front-End + كودات خصم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2761488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798064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1248" y="27066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Responsive RTL احترافي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46320" y="2761488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2798064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30368" y="270662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خالصة بأداء عالٍ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5B0EA6"/>
          </a:solidFill>
          <a:ln w="12700">
            <a:solidFill>
              <a:srgbClr val="5B0EA6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جزيلاً  •  TechStore © 2025  •  أي أسئلة؟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891</Words>
  <Application>Microsoft Office PowerPoint</Application>
  <PresentationFormat>On-screen Show (16:9)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TechStore — عرض المشروع</dc:title>
  <dc:subject>PptxGenJS Presentation</dc:subject>
  <dc:creator>PptxGenJS</dc:creator>
  <cp:lastModifiedBy>Eman Khaled</cp:lastModifiedBy>
  <cp:revision>2</cp:revision>
  <dcterms:created xsi:type="dcterms:W3CDTF">2026-03-29T19:45:15Z</dcterms:created>
  <dcterms:modified xsi:type="dcterms:W3CDTF">2026-03-29T19:54:08Z</dcterms:modified>
</cp:coreProperties>
</file>